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0" r:id="rId4"/>
    <p:sldId id="261" r:id="rId5"/>
    <p:sldId id="257" r:id="rId6"/>
    <p:sldId id="266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1EB9"/>
    <a:srgbClr val="CF01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4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DE3B4-842B-4F93-B0CC-7C0C82D61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0C5DA3-0807-4249-BDDF-B96E434FB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C93C5-FF59-456F-A095-AFEF8ADA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B8E7BE-169F-4922-85DB-9ED4D630F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D22B0-115A-4716-956D-3C3385C9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910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2702D-E7A8-4D72-B132-182798DD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39FBD-C408-46FB-BA0B-8BD2D13A8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84D617-158F-4DB2-8A92-7A624DF8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1A7D8E-E5FB-4386-A659-2F349619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1F5660-FFD5-40DE-98BD-018C507D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17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5E4DC-B92C-419B-9FB8-743B46C2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D182C0-9E22-4E11-B8DF-7060AF39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6217FB-18ED-4D7C-B515-76EE138D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B1CD24-9B5E-402D-9FF2-B90339CE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B5C525-26B1-487F-9304-C8ECAFEC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85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34C61-F662-4DFD-B1BC-325DE665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4E820A-A2C3-4705-8348-087F9E25E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F6CEC3-9B52-40A6-BF5A-A58885821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BCE709-3DFF-4EF5-8A6F-615355233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B0F788-A69F-4A42-83C7-217A4362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CB08CE-8210-4D05-8FD6-A6E012F7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953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82B83-BC1C-4873-91D6-559A2318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94489A-E011-41BD-973E-07D90B891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82E1A7-976D-4D0D-985C-66B2D5369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512579-6CE4-4D86-B1DC-47FE62573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E11BB2-5B85-45E9-A419-13160B6AF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8395DD-F07D-4605-AE58-098BE4C5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ACF49D-C377-4078-9FD9-F192154C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FE764C-1754-467B-B911-1B99D903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13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95816-B56C-4E5A-BB0A-F0E02F0B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E80154-0AA8-442E-A3D1-86D29D82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667E8E-B646-49D2-A1EA-6951A86B6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2DB411-3FAB-489C-A8C3-9F633785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881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66FF59-89D9-4267-BF2E-508CCE328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DC1704-2933-45EE-BE71-4A84EC52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3A867B-63D8-4CD4-ACE8-07D4D865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51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EB946-8284-4B53-A29D-B728DD83B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4E5323-F956-4016-8C1D-0DC13C0B9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F93542-A674-4937-8DF1-B6954BB6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F3DC19-C3D8-4B7B-9607-99DCC39C3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3FD055-AB7F-4630-9681-9FDF94F3A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3C61AB-2E90-4824-98BC-905BD2D0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96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FD90D0-1F12-4807-BD7B-E1CB681BB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1B29F2-BD7B-46A3-9178-06DDB78A6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B611E0-8B0E-4520-9F82-6847B2486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ABB43B-C8BD-4803-ABDA-8D2F9542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30E3F6-9CB9-47E7-8B12-0BD69F97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05E465-02A7-4740-B469-FF4B035EB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7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88368-9367-4E0A-8EAC-90D7F2E0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2AF8D6-E143-4E99-BB71-6E78D51CF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B1063F-93DF-4524-BC7A-51CA64C3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72849B-38C6-44F9-900A-05B6171B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A05BD2-1D4A-4E6B-B0C6-1E7925BB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04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EA6BE-996F-45A0-A0B0-1190C2E88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A2A58E-CE79-45A8-9480-4195FF72A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60DEEB-72A5-4C78-A43C-8074349C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F3BBD-219B-4412-B4EB-7C0DD177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636B9E-77F0-4C71-9AE7-F87E6662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164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50E4CF-D847-4796-B65B-7C1757F2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E9C6A4-0C6C-4555-B498-7284CCFE0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59857D-C73E-4760-AD86-3D2FD97C5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50258-100F-44C9-A5E2-A890E4642306}" type="datetimeFigureOut">
              <a:rPr lang="zh-CN" altLang="en-US" smtClean="0"/>
              <a:t>2022/1/17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A96B4F-C83D-4B6B-8EE0-3CBBFD8BE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2A687-8B36-43F5-9C77-AAC8FD8D1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DE59B-693E-40F5-89C4-2E6261DA65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20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3.tmp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3.tmp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A74217-B9BA-429E-ACF8-6830826FB816}"/>
              </a:ext>
            </a:extLst>
          </p:cNvPr>
          <p:cNvSpPr txBox="1"/>
          <p:nvPr/>
        </p:nvSpPr>
        <p:spPr>
          <a:xfrm>
            <a:off x="2784624" y="2967335"/>
            <a:ext cx="7070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Metabolic results of </a:t>
            </a:r>
            <a:r>
              <a:rPr lang="en-US" altLang="zh-CN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retrorsine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clivorine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vitro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8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8019287C-AC6A-49BC-B3CC-E8B28C70F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313995"/>
              </p:ext>
            </p:extLst>
          </p:nvPr>
        </p:nvGraphicFramePr>
        <p:xfrm>
          <a:off x="542261" y="984362"/>
          <a:ext cx="10590028" cy="45333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10369">
                  <a:extLst>
                    <a:ext uri="{9D8B030D-6E8A-4147-A177-3AD203B41FA5}">
                      <a16:colId xmlns:a16="http://schemas.microsoft.com/office/drawing/2014/main" val="1632190570"/>
                    </a:ext>
                  </a:extLst>
                </a:gridCol>
                <a:gridCol w="3289618">
                  <a:extLst>
                    <a:ext uri="{9D8B030D-6E8A-4147-A177-3AD203B41FA5}">
                      <a16:colId xmlns:a16="http://schemas.microsoft.com/office/drawing/2014/main" val="2502584318"/>
                    </a:ext>
                  </a:extLst>
                </a:gridCol>
                <a:gridCol w="2497716">
                  <a:extLst>
                    <a:ext uri="{9D8B030D-6E8A-4147-A177-3AD203B41FA5}">
                      <a16:colId xmlns:a16="http://schemas.microsoft.com/office/drawing/2014/main" val="1518856749"/>
                    </a:ext>
                  </a:extLst>
                </a:gridCol>
                <a:gridCol w="2392325">
                  <a:extLst>
                    <a:ext uri="{9D8B030D-6E8A-4147-A177-3AD203B41FA5}">
                      <a16:colId xmlns:a16="http://schemas.microsoft.com/office/drawing/2014/main" val="3990931161"/>
                    </a:ext>
                  </a:extLst>
                </a:gridCol>
              </a:tblGrid>
              <a:tr h="375091">
                <a:tc>
                  <a:txBody>
                    <a:bodyPr/>
                    <a:lstStyle/>
                    <a:p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system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Reported system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916546"/>
                  </a:ext>
                </a:extLst>
              </a:tr>
              <a:tr h="375091">
                <a:tc>
                  <a:txBody>
                    <a:bodyPr/>
                    <a:lstStyle/>
                    <a:p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Retrorsine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lasiocarpine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riddelline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779666"/>
                  </a:ext>
                </a:extLst>
              </a:tr>
              <a:tr h="305735">
                <a:tc>
                  <a:txBody>
                    <a:bodyPr/>
                    <a:lstStyle/>
                    <a:p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conc.(final volume 300</a:t>
                      </a:r>
                      <a:r>
                        <a:rPr lang="el-GR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L) 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conc.(final volume 100</a:t>
                      </a:r>
                      <a:r>
                        <a:rPr lang="el-GR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L) 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conc.(final volume 100</a:t>
                      </a:r>
                      <a:r>
                        <a:rPr lang="el-GR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L) 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79155"/>
                  </a:ext>
                </a:extLst>
              </a:tr>
              <a:tr h="551456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Subcellular fraction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2mg/mL microsome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0.04mg/mL microsome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0.5mg/mL</a:t>
                      </a:r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microsome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641805"/>
                  </a:ext>
                </a:extLst>
              </a:tr>
              <a:tr h="375091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NADPH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mM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20mM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20mM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101308"/>
                  </a:ext>
                </a:extLst>
              </a:tr>
              <a:tr h="64741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Buffer(Mixture of K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HPO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KH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mM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0.1M K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HPO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0.1M K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HPO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904674"/>
                  </a:ext>
                </a:extLst>
              </a:tr>
              <a:tr h="369952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GSH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mM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748084"/>
                  </a:ext>
                </a:extLst>
              </a:tr>
              <a:tr h="924881"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Retrorsine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6.25 to 600 </a:t>
                      </a:r>
                      <a:r>
                        <a:rPr lang="el-GR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0 to 200 </a:t>
                      </a:r>
                      <a:r>
                        <a:rPr lang="el-GR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0 to 400 </a:t>
                      </a:r>
                      <a:r>
                        <a:rPr lang="el-GR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8200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2E1F547-BB2C-4938-9211-AF5956922439}"/>
              </a:ext>
            </a:extLst>
          </p:cNvPr>
          <p:cNvSpPr txBox="1"/>
          <p:nvPr/>
        </p:nvSpPr>
        <p:spPr>
          <a:xfrm>
            <a:off x="148857" y="180754"/>
            <a:ext cx="4582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Incubation systems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119B95-D2FA-46EB-933F-37FF0D64D27B}"/>
              </a:ext>
            </a:extLst>
          </p:cNvPr>
          <p:cNvSpPr txBox="1"/>
          <p:nvPr/>
        </p:nvSpPr>
        <p:spPr>
          <a:xfrm>
            <a:off x="5414537" y="6317043"/>
            <a:ext cx="6961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reported system from :</a:t>
            </a:r>
            <a:r>
              <a:rPr lang="en-US" altLang="zh-CN" sz="16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https://doi.org/10.1016/j.fct.2018.04.012</a:t>
            </a:r>
            <a:endParaRPr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368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92218F8C-F520-4183-B3A5-DCC600AF4577}"/>
              </a:ext>
            </a:extLst>
          </p:cNvPr>
          <p:cNvGrpSpPr/>
          <p:nvPr/>
        </p:nvGrpSpPr>
        <p:grpSpPr>
          <a:xfrm>
            <a:off x="183349" y="603795"/>
            <a:ext cx="10802139" cy="6147694"/>
            <a:chOff x="183349" y="603795"/>
            <a:chExt cx="10802139" cy="614769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653B55C-81E1-424C-9384-BF90436B3FDC}"/>
                </a:ext>
              </a:extLst>
            </p:cNvPr>
            <p:cNvSpPr/>
            <p:nvPr/>
          </p:nvSpPr>
          <p:spPr>
            <a:xfrm>
              <a:off x="821676" y="629706"/>
              <a:ext cx="4626864" cy="757428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Pre-incubation in a shaking water bath at 37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℃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5755779-FB7B-4FA9-84BD-83A27468CEC6}"/>
                </a:ext>
              </a:extLst>
            </p:cNvPr>
            <p:cNvSpPr/>
            <p:nvPr/>
          </p:nvSpPr>
          <p:spPr>
            <a:xfrm>
              <a:off x="821676" y="1747073"/>
              <a:ext cx="4626864" cy="83286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Thaw microsome quickly at 37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℃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 the water bath incubation and place it on ice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14036FB-580B-496E-B09A-DF4ED27624FB}"/>
                </a:ext>
              </a:extLst>
            </p:cNvPr>
            <p:cNvSpPr/>
            <p:nvPr/>
          </p:nvSpPr>
          <p:spPr>
            <a:xfrm>
              <a:off x="821676" y="2953372"/>
              <a:ext cx="4626864" cy="91449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 buffer , Microsome, RTS and </a:t>
              </a:r>
              <a:r>
                <a:rPr lang="en-US" altLang="zh-CN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ddwater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to reach concentration: 6.25, 12, 35, 50, 75, 100, 150, 200, 400 and 600 </a:t>
              </a:r>
              <a:r>
                <a:rPr lang="el-GR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DE24A25-38EF-4CAB-BCD2-B20255583BC1}"/>
                </a:ext>
              </a:extLst>
            </p:cNvPr>
            <p:cNvSpPr/>
            <p:nvPr/>
          </p:nvSpPr>
          <p:spPr>
            <a:xfrm>
              <a:off x="183349" y="4630694"/>
              <a:ext cx="2950652" cy="784098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 30</a:t>
              </a:r>
              <a:r>
                <a:rPr lang="el-GR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 GSH and NADPH  to start the reactions (without GSH as control )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0436369-50D8-4960-A6A6-3E74B540A6B9}"/>
                </a:ext>
              </a:extLst>
            </p:cNvPr>
            <p:cNvSpPr/>
            <p:nvPr/>
          </p:nvSpPr>
          <p:spPr>
            <a:xfrm>
              <a:off x="3249408" y="4630694"/>
              <a:ext cx="2850110" cy="78333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Without 30</a:t>
              </a:r>
              <a:r>
                <a:rPr lang="el-GR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 GSH and NADPH (add 600</a:t>
              </a:r>
              <a:r>
                <a:rPr lang="el-GR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μ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 ice methanol )  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箭头: 下 16">
              <a:extLst>
                <a:ext uri="{FF2B5EF4-FFF2-40B4-BE49-F238E27FC236}">
                  <a16:creationId xmlns:a16="http://schemas.microsoft.com/office/drawing/2014/main" id="{611AA32C-0AED-4EDE-B646-2966011F8FFF}"/>
                </a:ext>
              </a:extLst>
            </p:cNvPr>
            <p:cNvSpPr/>
            <p:nvPr/>
          </p:nvSpPr>
          <p:spPr>
            <a:xfrm rot="2296562">
              <a:off x="2804147" y="3914248"/>
              <a:ext cx="214426" cy="644428"/>
            </a:xfrm>
            <a:prstGeom prst="downArrow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A75D421-68F1-4AA1-8963-F901B583B99E}"/>
                </a:ext>
              </a:extLst>
            </p:cNvPr>
            <p:cNvSpPr txBox="1"/>
            <p:nvPr/>
          </p:nvSpPr>
          <p:spPr>
            <a:xfrm>
              <a:off x="1856299" y="3914490"/>
              <a:ext cx="1074005" cy="5232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T=30min</a:t>
              </a:r>
            </a:p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N=4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F8C261C-1958-4220-9490-9DE4783FF40A}"/>
                </a:ext>
              </a:extLst>
            </p:cNvPr>
            <p:cNvSpPr txBox="1"/>
            <p:nvPr/>
          </p:nvSpPr>
          <p:spPr>
            <a:xfrm>
              <a:off x="3671902" y="3914490"/>
              <a:ext cx="1002561" cy="5232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T=0min</a:t>
              </a:r>
            </a:p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N=3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59D8FA6-141A-482B-9EFD-807F0666D0E6}"/>
                </a:ext>
              </a:extLst>
            </p:cNvPr>
            <p:cNvSpPr/>
            <p:nvPr/>
          </p:nvSpPr>
          <p:spPr>
            <a:xfrm>
              <a:off x="821677" y="5797762"/>
              <a:ext cx="4626863" cy="63872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Mix the sample well by vortex and incubate at 37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℃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 30 min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05F5B4D-FA75-43ED-99FD-8CFB6524C143}"/>
                </a:ext>
              </a:extLst>
            </p:cNvPr>
            <p:cNvSpPr/>
            <p:nvPr/>
          </p:nvSpPr>
          <p:spPr>
            <a:xfrm>
              <a:off x="6358624" y="603795"/>
              <a:ext cx="4626864" cy="78333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 600 </a:t>
              </a:r>
              <a:r>
                <a:rPr lang="el-GR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μ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 pre-ice methanol to stop the reaction and mix by vortex</a:t>
              </a:r>
              <a:r>
                <a:rPr lang="el-GR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μ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 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05D67D0-1102-43C0-AAE0-621751EC6958}"/>
                </a:ext>
              </a:extLst>
            </p:cNvPr>
            <p:cNvSpPr/>
            <p:nvPr/>
          </p:nvSpPr>
          <p:spPr>
            <a:xfrm>
              <a:off x="6358624" y="1747070"/>
              <a:ext cx="4626864" cy="71359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Centrifuge all samples at 10000g for 5min, 4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℃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1CF8D27-6CE6-4AFE-B079-E62E829EF275}"/>
                </a:ext>
              </a:extLst>
            </p:cNvPr>
            <p:cNvSpPr/>
            <p:nvPr/>
          </p:nvSpPr>
          <p:spPr>
            <a:xfrm>
              <a:off x="6358624" y="2865538"/>
              <a:ext cx="4626864" cy="71359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Store the supernatant for LC-MS analysis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箭头: 下 24">
              <a:extLst>
                <a:ext uri="{FF2B5EF4-FFF2-40B4-BE49-F238E27FC236}">
                  <a16:creationId xmlns:a16="http://schemas.microsoft.com/office/drawing/2014/main" id="{A60CD33B-137C-4C5F-AAE5-C5E3992AD981}"/>
                </a:ext>
              </a:extLst>
            </p:cNvPr>
            <p:cNvSpPr/>
            <p:nvPr/>
          </p:nvSpPr>
          <p:spPr>
            <a:xfrm rot="19027831">
              <a:off x="3385698" y="3903977"/>
              <a:ext cx="214426" cy="644428"/>
            </a:xfrm>
            <a:prstGeom prst="downArrow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箭头: 下 25">
              <a:extLst>
                <a:ext uri="{FF2B5EF4-FFF2-40B4-BE49-F238E27FC236}">
                  <a16:creationId xmlns:a16="http://schemas.microsoft.com/office/drawing/2014/main" id="{ED7B031E-0EE2-4197-91F1-7DCABDC05EE2}"/>
                </a:ext>
              </a:extLst>
            </p:cNvPr>
            <p:cNvSpPr/>
            <p:nvPr/>
          </p:nvSpPr>
          <p:spPr>
            <a:xfrm>
              <a:off x="2970516" y="1436364"/>
              <a:ext cx="228600" cy="261479"/>
            </a:xfrm>
            <a:prstGeom prst="downArrow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箭头: 下 26">
              <a:extLst>
                <a:ext uri="{FF2B5EF4-FFF2-40B4-BE49-F238E27FC236}">
                  <a16:creationId xmlns:a16="http://schemas.microsoft.com/office/drawing/2014/main" id="{FF01086D-844F-4F21-BCDD-8368BE9F482B}"/>
                </a:ext>
              </a:extLst>
            </p:cNvPr>
            <p:cNvSpPr/>
            <p:nvPr/>
          </p:nvSpPr>
          <p:spPr>
            <a:xfrm>
              <a:off x="3020808" y="2631724"/>
              <a:ext cx="228600" cy="261479"/>
            </a:xfrm>
            <a:prstGeom prst="downArrow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箭头: 下 27">
              <a:extLst>
                <a:ext uri="{FF2B5EF4-FFF2-40B4-BE49-F238E27FC236}">
                  <a16:creationId xmlns:a16="http://schemas.microsoft.com/office/drawing/2014/main" id="{940222A6-D8B2-49B2-91B2-32683134BDC7}"/>
                </a:ext>
              </a:extLst>
            </p:cNvPr>
            <p:cNvSpPr/>
            <p:nvPr/>
          </p:nvSpPr>
          <p:spPr>
            <a:xfrm>
              <a:off x="3135108" y="5489661"/>
              <a:ext cx="228600" cy="261479"/>
            </a:xfrm>
            <a:prstGeom prst="downArrow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箭头: 下 28">
              <a:extLst>
                <a:ext uri="{FF2B5EF4-FFF2-40B4-BE49-F238E27FC236}">
                  <a16:creationId xmlns:a16="http://schemas.microsoft.com/office/drawing/2014/main" id="{FBD26B31-1528-4795-928A-017C30100B1E}"/>
                </a:ext>
              </a:extLst>
            </p:cNvPr>
            <p:cNvSpPr/>
            <p:nvPr/>
          </p:nvSpPr>
          <p:spPr>
            <a:xfrm>
              <a:off x="3134001" y="6490010"/>
              <a:ext cx="228600" cy="261479"/>
            </a:xfrm>
            <a:prstGeom prst="downArrow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箭头: 下 29">
              <a:extLst>
                <a:ext uri="{FF2B5EF4-FFF2-40B4-BE49-F238E27FC236}">
                  <a16:creationId xmlns:a16="http://schemas.microsoft.com/office/drawing/2014/main" id="{DB863640-6833-46C5-84FA-CCA28A2A0604}"/>
                </a:ext>
              </a:extLst>
            </p:cNvPr>
            <p:cNvSpPr/>
            <p:nvPr/>
          </p:nvSpPr>
          <p:spPr>
            <a:xfrm>
              <a:off x="8484356" y="1436360"/>
              <a:ext cx="228600" cy="261479"/>
            </a:xfrm>
            <a:prstGeom prst="downArrow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箭头: 下 30">
              <a:extLst>
                <a:ext uri="{FF2B5EF4-FFF2-40B4-BE49-F238E27FC236}">
                  <a16:creationId xmlns:a16="http://schemas.microsoft.com/office/drawing/2014/main" id="{B95ADB5C-31C6-4C53-8A0F-2F8AD69CCF09}"/>
                </a:ext>
              </a:extLst>
            </p:cNvPr>
            <p:cNvSpPr/>
            <p:nvPr/>
          </p:nvSpPr>
          <p:spPr>
            <a:xfrm>
              <a:off x="8484356" y="2523850"/>
              <a:ext cx="228600" cy="261479"/>
            </a:xfrm>
            <a:prstGeom prst="downArrow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09BA9262-D7D9-49E2-B8CD-ADA9F910C02E}"/>
              </a:ext>
            </a:extLst>
          </p:cNvPr>
          <p:cNvSpPr txBox="1"/>
          <p:nvPr/>
        </p:nvSpPr>
        <p:spPr>
          <a:xfrm>
            <a:off x="91831" y="43352"/>
            <a:ext cx="4582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procedure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160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C136A35-BF1F-42DD-93E2-027F29476EA3}"/>
              </a:ext>
            </a:extLst>
          </p:cNvPr>
          <p:cNvSpPr txBox="1"/>
          <p:nvPr/>
        </p:nvSpPr>
        <p:spPr>
          <a:xfrm>
            <a:off x="191385" y="5884522"/>
            <a:ext cx="110826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vitro Vmax in nmol/min/mg microsomal protein, Km in </a:t>
            </a:r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 catalytic efficiency in ml/min/mg microsomal protein ( calculated as Vmax/Km). The values are mean ± SD of four independent experiments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77DE10-6A17-47BC-8F72-B5ADE3618B1C}"/>
              </a:ext>
            </a:extLst>
          </p:cNvPr>
          <p:cNvSpPr txBox="1"/>
          <p:nvPr/>
        </p:nvSpPr>
        <p:spPr>
          <a:xfrm>
            <a:off x="191385" y="4407194"/>
            <a:ext cx="116001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for the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retrorsine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concentration-dependent rate of </a:t>
            </a:r>
            <a:r>
              <a:rPr lang="en-US" altLang="zh-CN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retrorsine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depletion thus obtain are fitted to the standard Michaelis–Menten equation using GraphPad Prism software </a:t>
            </a:r>
          </a:p>
          <a:p>
            <a:r>
              <a:rPr lang="en-US" altLang="zh-CN" u="none" strike="noStrike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V=Vmax×[S]/(Km+[S])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E23D9B-EAD0-4668-BF62-E9E230BBD800}"/>
              </a:ext>
            </a:extLst>
          </p:cNvPr>
          <p:cNvSpPr txBox="1"/>
          <p:nvPr/>
        </p:nvSpPr>
        <p:spPr>
          <a:xfrm>
            <a:off x="287078" y="783509"/>
            <a:ext cx="7562407" cy="40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amount of depletion of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retrorsine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mins –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C30 mins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17019D4-F0A2-4DBE-94C3-7FF186DBB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533123"/>
              </p:ext>
            </p:extLst>
          </p:nvPr>
        </p:nvGraphicFramePr>
        <p:xfrm>
          <a:off x="400492" y="1205825"/>
          <a:ext cx="7772734" cy="31633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313">
                  <a:extLst>
                    <a:ext uri="{9D8B030D-6E8A-4147-A177-3AD203B41FA5}">
                      <a16:colId xmlns:a16="http://schemas.microsoft.com/office/drawing/2014/main" val="2587853534"/>
                    </a:ext>
                  </a:extLst>
                </a:gridCol>
                <a:gridCol w="1220788">
                  <a:extLst>
                    <a:ext uri="{9D8B030D-6E8A-4147-A177-3AD203B41FA5}">
                      <a16:colId xmlns:a16="http://schemas.microsoft.com/office/drawing/2014/main" val="2883813415"/>
                    </a:ext>
                  </a:extLst>
                </a:gridCol>
                <a:gridCol w="1220788">
                  <a:extLst>
                    <a:ext uri="{9D8B030D-6E8A-4147-A177-3AD203B41FA5}">
                      <a16:colId xmlns:a16="http://schemas.microsoft.com/office/drawing/2014/main" val="851761815"/>
                    </a:ext>
                  </a:extLst>
                </a:gridCol>
                <a:gridCol w="1220788">
                  <a:extLst>
                    <a:ext uri="{9D8B030D-6E8A-4147-A177-3AD203B41FA5}">
                      <a16:colId xmlns:a16="http://schemas.microsoft.com/office/drawing/2014/main" val="1694265345"/>
                    </a:ext>
                  </a:extLst>
                </a:gridCol>
                <a:gridCol w="1220788">
                  <a:extLst>
                    <a:ext uri="{9D8B030D-6E8A-4147-A177-3AD203B41FA5}">
                      <a16:colId xmlns:a16="http://schemas.microsoft.com/office/drawing/2014/main" val="873165375"/>
                    </a:ext>
                  </a:extLst>
                </a:gridCol>
                <a:gridCol w="1071957">
                  <a:extLst>
                    <a:ext uri="{9D8B030D-6E8A-4147-A177-3AD203B41FA5}">
                      <a16:colId xmlns:a16="http://schemas.microsoft.com/office/drawing/2014/main" val="3958099360"/>
                    </a:ext>
                  </a:extLst>
                </a:gridCol>
                <a:gridCol w="714312">
                  <a:extLst>
                    <a:ext uri="{9D8B030D-6E8A-4147-A177-3AD203B41FA5}">
                      <a16:colId xmlns:a16="http://schemas.microsoft.com/office/drawing/2014/main" val="4194232814"/>
                    </a:ext>
                  </a:extLst>
                </a:gridCol>
              </a:tblGrid>
              <a:tr h="287579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CONC.(</a:t>
                      </a:r>
                      <a:r>
                        <a:rPr lang="el-GR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Sample1.(</a:t>
                      </a:r>
                      <a:r>
                        <a:rPr lang="el-GR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Sample2.(</a:t>
                      </a:r>
                      <a:r>
                        <a:rPr lang="el-GR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Sample3.(</a:t>
                      </a:r>
                      <a:r>
                        <a:rPr lang="el-GR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Sample4.(</a:t>
                      </a:r>
                      <a:r>
                        <a:rPr lang="el-GR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75427965"/>
                  </a:ext>
                </a:extLst>
              </a:tr>
              <a:tr h="287579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6.25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62404138"/>
                  </a:ext>
                </a:extLst>
              </a:tr>
              <a:tr h="287579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12.5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53997937"/>
                  </a:ext>
                </a:extLst>
              </a:tr>
              <a:tr h="287579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17.25 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24.21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22.34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23.48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21.82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3.14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29003852"/>
                  </a:ext>
                </a:extLst>
              </a:tr>
              <a:tr h="287579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40.39 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34.03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18.10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33.67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31.55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9.48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411873"/>
                  </a:ext>
                </a:extLst>
              </a:tr>
              <a:tr h="287579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53.39 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39.19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46.70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52.46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47.94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6.54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4532873"/>
                  </a:ext>
                </a:extLst>
              </a:tr>
              <a:tr h="287579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53.32 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44.75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62.01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44.68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51.19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8.27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41163043"/>
                  </a:ext>
                </a:extLst>
              </a:tr>
              <a:tr h="287579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74.29 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55.35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110.65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63.03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75.83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24.48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71709068"/>
                  </a:ext>
                </a:extLst>
              </a:tr>
              <a:tr h="287579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59.96 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76.92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42.71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59.31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59.73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13.97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86454149"/>
                  </a:ext>
                </a:extLst>
              </a:tr>
              <a:tr h="287579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53.15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12.81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73.30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84.42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55.92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31.52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33346509"/>
                  </a:ext>
                </a:extLst>
              </a:tr>
              <a:tr h="287579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80.94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137.02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68.67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71.16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89.45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32.15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5370612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9CEC0908-D57B-4BE3-99CF-369111136890}"/>
              </a:ext>
            </a:extLst>
          </p:cNvPr>
          <p:cNvSpPr txBox="1"/>
          <p:nvPr/>
        </p:nvSpPr>
        <p:spPr>
          <a:xfrm>
            <a:off x="85059" y="160614"/>
            <a:ext cx="633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Data analysis procedure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588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B81B3C6-EBA4-4FCE-AFED-341641C6BFEA}"/>
              </a:ext>
            </a:extLst>
          </p:cNvPr>
          <p:cNvSpPr txBox="1"/>
          <p:nvPr/>
        </p:nvSpPr>
        <p:spPr>
          <a:xfrm>
            <a:off x="6307672" y="6423368"/>
            <a:ext cx="6961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reported results from :</a:t>
            </a:r>
            <a:r>
              <a:rPr lang="en-US" altLang="zh-CN" sz="16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https://doi.org/10.1016/j.fct.2018.04.012</a:t>
            </a:r>
            <a:endParaRPr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3E605D-9326-4CE3-A920-A83A4755BB6C}"/>
              </a:ext>
            </a:extLst>
          </p:cNvPr>
          <p:cNvSpPr txBox="1"/>
          <p:nvPr/>
        </p:nvSpPr>
        <p:spPr>
          <a:xfrm>
            <a:off x="138903" y="328821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results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75454F-FD37-4126-82C8-8DFF088FAFCA}"/>
              </a:ext>
            </a:extLst>
          </p:cNvPr>
          <p:cNvSpPr txBox="1"/>
          <p:nvPr/>
        </p:nvSpPr>
        <p:spPr>
          <a:xfrm>
            <a:off x="372327" y="5772978"/>
            <a:ext cx="3149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Retrorsine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ranging from 6.25  to 600</a:t>
            </a:r>
            <a:r>
              <a:rPr lang="el-GR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C59D51A-8D05-419C-A4BC-BBB0908C0768}"/>
              </a:ext>
            </a:extLst>
          </p:cNvPr>
          <p:cNvSpPr txBox="1"/>
          <p:nvPr/>
        </p:nvSpPr>
        <p:spPr>
          <a:xfrm>
            <a:off x="6902376" y="159786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 results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AB35667E-3B67-4056-AA92-058C7C23F5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633501"/>
              </p:ext>
            </p:extLst>
          </p:nvPr>
        </p:nvGraphicFramePr>
        <p:xfrm>
          <a:off x="78429" y="531096"/>
          <a:ext cx="3655830" cy="2815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Prism 7" r:id="rId3" imgW="3825001" imgH="2944826" progId="Prism7.Document">
                  <p:embed/>
                </p:oleObj>
              </mc:Choice>
              <mc:Fallback>
                <p:oleObj name="Prism 7" r:id="rId3" imgW="3825001" imgH="2944826" progId="Prism7.Document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AB35667E-3B67-4056-AA92-058C7C23F5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429" y="531096"/>
                        <a:ext cx="3655830" cy="2815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" name="圖片 11">
            <a:extLst>
              <a:ext uri="{FF2B5EF4-FFF2-40B4-BE49-F238E27FC236}">
                <a16:creationId xmlns:a16="http://schemas.microsoft.com/office/drawing/2014/main" id="{BFBDF67D-11F8-419A-AB0E-EABCA148D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421" y="641273"/>
            <a:ext cx="3374230" cy="2831189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31FDE884-172F-4875-BED1-44A82F488A53}"/>
              </a:ext>
            </a:extLst>
          </p:cNvPr>
          <p:cNvSpPr txBox="1"/>
          <p:nvPr/>
        </p:nvSpPr>
        <p:spPr>
          <a:xfrm>
            <a:off x="3557034" y="3439578"/>
            <a:ext cx="3374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Riddelline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ranging from 6.25  to 400</a:t>
            </a:r>
            <a:r>
              <a:rPr lang="el-GR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endParaRPr lang="zh-CN" altLang="en-US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C6612B7-130B-4948-9810-B09CB17D8A6A}"/>
              </a:ext>
            </a:extLst>
          </p:cNvPr>
          <p:cNvSpPr txBox="1"/>
          <p:nvPr/>
        </p:nvSpPr>
        <p:spPr>
          <a:xfrm>
            <a:off x="9453933" y="3472462"/>
            <a:ext cx="2599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Riddelline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ranging from 0  to 400 </a:t>
            </a:r>
            <a:r>
              <a:rPr lang="el-GR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DA696E4-ACB2-4E27-8431-F1F4AA393B52}"/>
              </a:ext>
            </a:extLst>
          </p:cNvPr>
          <p:cNvSpPr txBox="1"/>
          <p:nvPr/>
        </p:nvSpPr>
        <p:spPr>
          <a:xfrm>
            <a:off x="4071846" y="121948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Becky’s results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C768CFA-B0C7-4EF3-B76C-FA66B73D86EF}"/>
              </a:ext>
            </a:extLst>
          </p:cNvPr>
          <p:cNvSpPr txBox="1"/>
          <p:nvPr/>
        </p:nvSpPr>
        <p:spPr>
          <a:xfrm>
            <a:off x="0" y="6516487"/>
            <a:ext cx="39163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are mean ± SD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432AB66C-77A4-4B51-8059-1F6B2098E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113" y="941259"/>
            <a:ext cx="5580051" cy="2170315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970090FD-D9DF-443C-A81E-26B469829501}"/>
              </a:ext>
            </a:extLst>
          </p:cNvPr>
          <p:cNvSpPr txBox="1"/>
          <p:nvPr/>
        </p:nvSpPr>
        <p:spPr>
          <a:xfrm>
            <a:off x="6740373" y="3379049"/>
            <a:ext cx="2599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lasiocarpine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ranging from 0  to 200 </a:t>
            </a:r>
            <a:r>
              <a:rPr lang="el-GR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3126438-5AED-42EA-AE31-D3FBA83E9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828980"/>
              </p:ext>
            </p:extLst>
          </p:nvPr>
        </p:nvGraphicFramePr>
        <p:xfrm>
          <a:off x="138903" y="3574988"/>
          <a:ext cx="3170311" cy="225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Prism 7" r:id="rId7" imgW="4230874" imgH="3008914" progId="Prism7.Document">
                  <p:embed/>
                </p:oleObj>
              </mc:Choice>
              <mc:Fallback>
                <p:oleObj name="Prism 7" r:id="rId7" imgW="4230874" imgH="3008914" progId="Prism7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8903" y="3574988"/>
                        <a:ext cx="3170311" cy="2254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3E770283-77A3-4FB5-8AAB-17469029C7BF}"/>
              </a:ext>
            </a:extLst>
          </p:cNvPr>
          <p:cNvSpPr/>
          <p:nvPr/>
        </p:nvSpPr>
        <p:spPr>
          <a:xfrm>
            <a:off x="33779" y="224247"/>
            <a:ext cx="3374230" cy="622935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6781087A-4F57-4A25-BAAA-BE69D31E3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892671"/>
              </p:ext>
            </p:extLst>
          </p:nvPr>
        </p:nvGraphicFramePr>
        <p:xfrm>
          <a:off x="3826349" y="4237976"/>
          <a:ext cx="8313384" cy="2063897"/>
        </p:xfrm>
        <a:graphic>
          <a:graphicData uri="http://schemas.openxmlformats.org/drawingml/2006/table">
            <a:tbl>
              <a:tblPr/>
              <a:tblGrid>
                <a:gridCol w="1379416">
                  <a:extLst>
                    <a:ext uri="{9D8B030D-6E8A-4147-A177-3AD203B41FA5}">
                      <a16:colId xmlns:a16="http://schemas.microsoft.com/office/drawing/2014/main" val="1666847405"/>
                    </a:ext>
                  </a:extLst>
                </a:gridCol>
                <a:gridCol w="1242965">
                  <a:extLst>
                    <a:ext uri="{9D8B030D-6E8A-4147-A177-3AD203B41FA5}">
                      <a16:colId xmlns:a16="http://schemas.microsoft.com/office/drawing/2014/main" val="1062437160"/>
                    </a:ext>
                  </a:extLst>
                </a:gridCol>
                <a:gridCol w="799049">
                  <a:extLst>
                    <a:ext uri="{9D8B030D-6E8A-4147-A177-3AD203B41FA5}">
                      <a16:colId xmlns:a16="http://schemas.microsoft.com/office/drawing/2014/main" val="2221781273"/>
                    </a:ext>
                  </a:extLst>
                </a:gridCol>
                <a:gridCol w="1766786">
                  <a:extLst>
                    <a:ext uri="{9D8B030D-6E8A-4147-A177-3AD203B41FA5}">
                      <a16:colId xmlns:a16="http://schemas.microsoft.com/office/drawing/2014/main" val="3592747437"/>
                    </a:ext>
                  </a:extLst>
                </a:gridCol>
                <a:gridCol w="1482679">
                  <a:extLst>
                    <a:ext uri="{9D8B030D-6E8A-4147-A177-3AD203B41FA5}">
                      <a16:colId xmlns:a16="http://schemas.microsoft.com/office/drawing/2014/main" val="2407274568"/>
                    </a:ext>
                  </a:extLst>
                </a:gridCol>
                <a:gridCol w="1642489">
                  <a:extLst>
                    <a:ext uri="{9D8B030D-6E8A-4147-A177-3AD203B41FA5}">
                      <a16:colId xmlns:a16="http://schemas.microsoft.com/office/drawing/2014/main" val="1171917854"/>
                    </a:ext>
                  </a:extLst>
                </a:gridCol>
              </a:tblGrid>
              <a:tr h="44378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Species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n-NO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Vmax(nmol/min/mg/microsomal protein)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Km(</a:t>
                      </a: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μ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mol)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Catalytic efficiency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515218"/>
                  </a:ext>
                </a:extLst>
              </a:tr>
              <a:tr h="27814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Present results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Retrorsine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Rat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1.522±0.1771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85.29±28.82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0.018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81641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en-US" altLang="zh-C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livorine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Rat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1.958±0.328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103.5±38.49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0.019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519841"/>
                  </a:ext>
                </a:extLst>
              </a:tr>
              <a:tr h="290963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Becky’s results</a:t>
                      </a:r>
                      <a:endParaRPr lang="zh-CN" alt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Riddelliine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Rat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2.45±0.32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178.97±42.59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0.013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02443"/>
                  </a:ext>
                </a:extLst>
              </a:tr>
              <a:tr h="22474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Reported results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Riddelliine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Rat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2.1 ± 0.1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75.7 ± 7.4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0.028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746553"/>
                  </a:ext>
                </a:extLst>
              </a:tr>
              <a:tr h="2247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Lasiocarpine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Rat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5.3 ± 0.6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19.5 ± 7.7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0.27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933477"/>
                  </a:ext>
                </a:extLst>
              </a:tr>
              <a:tr h="224745">
                <a:tc>
                  <a:txBody>
                    <a:bodyPr/>
                    <a:lstStyle/>
                    <a:p>
                      <a:pPr algn="ctr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915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825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B81B3C6-EBA4-4FCE-AFED-341641C6BFEA}"/>
              </a:ext>
            </a:extLst>
          </p:cNvPr>
          <p:cNvSpPr txBox="1"/>
          <p:nvPr/>
        </p:nvSpPr>
        <p:spPr>
          <a:xfrm>
            <a:off x="6307672" y="6423368"/>
            <a:ext cx="6961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solidFill>
                  <a:srgbClr val="2121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reported results from :</a:t>
            </a:r>
            <a:r>
              <a:rPr lang="en-US" altLang="zh-CN" sz="1600" b="0" i="1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https://doi.org/10.1016/j.fct.2018.04.012</a:t>
            </a:r>
            <a:endParaRPr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3E605D-9326-4CE3-A920-A83A4755BB6C}"/>
              </a:ext>
            </a:extLst>
          </p:cNvPr>
          <p:cNvSpPr txBox="1"/>
          <p:nvPr/>
        </p:nvSpPr>
        <p:spPr>
          <a:xfrm>
            <a:off x="138903" y="329264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results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75454F-FD37-4126-82C8-8DFF088FAFCA}"/>
              </a:ext>
            </a:extLst>
          </p:cNvPr>
          <p:cNvSpPr txBox="1"/>
          <p:nvPr/>
        </p:nvSpPr>
        <p:spPr>
          <a:xfrm>
            <a:off x="372327" y="5759295"/>
            <a:ext cx="3149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Clivorine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ranging from 6.25  to 600</a:t>
            </a:r>
            <a:r>
              <a:rPr lang="el-GR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M(delete 200 and 600 </a:t>
            </a:r>
            <a:r>
              <a:rPr lang="en-US" altLang="zh-CN" sz="16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μM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).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C59D51A-8D05-419C-A4BC-BBB0908C0768}"/>
              </a:ext>
            </a:extLst>
          </p:cNvPr>
          <p:cNvSpPr txBox="1"/>
          <p:nvPr/>
        </p:nvSpPr>
        <p:spPr>
          <a:xfrm>
            <a:off x="6673776" y="16911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 results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圖片 11">
            <a:extLst>
              <a:ext uri="{FF2B5EF4-FFF2-40B4-BE49-F238E27FC236}">
                <a16:creationId xmlns:a16="http://schemas.microsoft.com/office/drawing/2014/main" id="{BFBDF67D-11F8-419A-AB0E-EABCA148D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421" y="145973"/>
            <a:ext cx="3374230" cy="2831189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31FDE884-172F-4875-BED1-44A82F488A53}"/>
              </a:ext>
            </a:extLst>
          </p:cNvPr>
          <p:cNvSpPr txBox="1"/>
          <p:nvPr/>
        </p:nvSpPr>
        <p:spPr>
          <a:xfrm>
            <a:off x="3557034" y="2944278"/>
            <a:ext cx="33742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Riddelline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ranging from 6.25  to 400</a:t>
            </a:r>
            <a:r>
              <a:rPr lang="el-GR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endParaRPr lang="zh-CN" altLang="en-US" sz="1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C6612B7-130B-4948-9810-B09CB17D8A6A}"/>
              </a:ext>
            </a:extLst>
          </p:cNvPr>
          <p:cNvSpPr txBox="1"/>
          <p:nvPr/>
        </p:nvSpPr>
        <p:spPr>
          <a:xfrm>
            <a:off x="9453933" y="2977162"/>
            <a:ext cx="2599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Riddelline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ranging from 0  to 400 </a:t>
            </a:r>
            <a:r>
              <a:rPr lang="el-GR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DA696E4-ACB2-4E27-8431-F1F4AA393B52}"/>
              </a:ext>
            </a:extLst>
          </p:cNvPr>
          <p:cNvSpPr txBox="1"/>
          <p:nvPr/>
        </p:nvSpPr>
        <p:spPr>
          <a:xfrm>
            <a:off x="3882309" y="7648"/>
            <a:ext cx="3496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Becky’s results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C768CFA-B0C7-4EF3-B76C-FA66B73D86EF}"/>
              </a:ext>
            </a:extLst>
          </p:cNvPr>
          <p:cNvSpPr txBox="1"/>
          <p:nvPr/>
        </p:nvSpPr>
        <p:spPr>
          <a:xfrm>
            <a:off x="0" y="6516487"/>
            <a:ext cx="39163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are mean ± SD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432AB66C-77A4-4B51-8059-1F6B2098E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672" y="413778"/>
            <a:ext cx="5580051" cy="2170315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970090FD-D9DF-443C-A81E-26B469829501}"/>
              </a:ext>
            </a:extLst>
          </p:cNvPr>
          <p:cNvSpPr txBox="1"/>
          <p:nvPr/>
        </p:nvSpPr>
        <p:spPr>
          <a:xfrm>
            <a:off x="6740373" y="2883749"/>
            <a:ext cx="2599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lasiocarpine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ranging from 0  to 200 </a:t>
            </a:r>
            <a:r>
              <a:rPr lang="el-GR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3126438-5AED-42EA-AE31-D3FBA83E9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566673"/>
              </p:ext>
            </p:extLst>
          </p:nvPr>
        </p:nvGraphicFramePr>
        <p:xfrm>
          <a:off x="138903" y="3622613"/>
          <a:ext cx="3170311" cy="225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Prism 7" r:id="rId5" imgW="4230874" imgH="3008914" progId="Prism7.Document">
                  <p:embed/>
                </p:oleObj>
              </mc:Choice>
              <mc:Fallback>
                <p:oleObj name="Prism 7" r:id="rId5" imgW="4230874" imgH="3008914" progId="Prism7.Document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83126438-5AED-42EA-AE31-D3FBA83E9F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903" y="3622613"/>
                        <a:ext cx="3170311" cy="2254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3E770283-77A3-4FB5-8AAB-17469029C7BF}"/>
              </a:ext>
            </a:extLst>
          </p:cNvPr>
          <p:cNvSpPr/>
          <p:nvPr/>
        </p:nvSpPr>
        <p:spPr>
          <a:xfrm>
            <a:off x="34616" y="207770"/>
            <a:ext cx="3374230" cy="622935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6781087A-4F57-4A25-BAAA-BE69D31E3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536365"/>
              </p:ext>
            </p:extLst>
          </p:nvPr>
        </p:nvGraphicFramePr>
        <p:xfrm>
          <a:off x="3826349" y="3552176"/>
          <a:ext cx="8313384" cy="1813707"/>
        </p:xfrm>
        <a:graphic>
          <a:graphicData uri="http://schemas.openxmlformats.org/drawingml/2006/table">
            <a:tbl>
              <a:tblPr/>
              <a:tblGrid>
                <a:gridCol w="1379416">
                  <a:extLst>
                    <a:ext uri="{9D8B030D-6E8A-4147-A177-3AD203B41FA5}">
                      <a16:colId xmlns:a16="http://schemas.microsoft.com/office/drawing/2014/main" val="1666847405"/>
                    </a:ext>
                  </a:extLst>
                </a:gridCol>
                <a:gridCol w="1242965">
                  <a:extLst>
                    <a:ext uri="{9D8B030D-6E8A-4147-A177-3AD203B41FA5}">
                      <a16:colId xmlns:a16="http://schemas.microsoft.com/office/drawing/2014/main" val="1062437160"/>
                    </a:ext>
                  </a:extLst>
                </a:gridCol>
                <a:gridCol w="799049">
                  <a:extLst>
                    <a:ext uri="{9D8B030D-6E8A-4147-A177-3AD203B41FA5}">
                      <a16:colId xmlns:a16="http://schemas.microsoft.com/office/drawing/2014/main" val="2221781273"/>
                    </a:ext>
                  </a:extLst>
                </a:gridCol>
                <a:gridCol w="1766786">
                  <a:extLst>
                    <a:ext uri="{9D8B030D-6E8A-4147-A177-3AD203B41FA5}">
                      <a16:colId xmlns:a16="http://schemas.microsoft.com/office/drawing/2014/main" val="3592747437"/>
                    </a:ext>
                  </a:extLst>
                </a:gridCol>
                <a:gridCol w="1482679">
                  <a:extLst>
                    <a:ext uri="{9D8B030D-6E8A-4147-A177-3AD203B41FA5}">
                      <a16:colId xmlns:a16="http://schemas.microsoft.com/office/drawing/2014/main" val="2407274568"/>
                    </a:ext>
                  </a:extLst>
                </a:gridCol>
                <a:gridCol w="1642489">
                  <a:extLst>
                    <a:ext uri="{9D8B030D-6E8A-4147-A177-3AD203B41FA5}">
                      <a16:colId xmlns:a16="http://schemas.microsoft.com/office/drawing/2014/main" val="1171917854"/>
                    </a:ext>
                  </a:extLst>
                </a:gridCol>
              </a:tblGrid>
              <a:tr h="44378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Species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n-NO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Vmax(nmol/min/mg/microsomal protein)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Km(</a:t>
                      </a: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μ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mol)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Catalytic efficiency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5515218"/>
                  </a:ext>
                </a:extLst>
              </a:tr>
              <a:tr h="27814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Present results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Retrorsine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Rat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1.522±0.1771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85.29±28.82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0.018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81641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en-US" altLang="zh-C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livorine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Rat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1.958±0.328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103.5±38.49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0.019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519841"/>
                  </a:ext>
                </a:extLst>
              </a:tr>
              <a:tr h="290963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Becky’s results</a:t>
                      </a:r>
                      <a:endParaRPr lang="zh-CN" alt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Riddelliine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Rat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2.45±0.32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178.97±42.59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altLang="zh-C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0.013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E1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02443"/>
                  </a:ext>
                </a:extLst>
              </a:tr>
              <a:tr h="22474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Reported results 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Riddelliine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Rat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2.1 ± 0.1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75.7 ± 7.4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0.028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746553"/>
                  </a:ext>
                </a:extLst>
              </a:tr>
              <a:tr h="2247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Lasiocarpine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Rat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5.3 ± 0.6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19.5 ± 7.7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0.27</a:t>
                      </a:r>
                    </a:p>
                  </a:txBody>
                  <a:tcPr marL="6350" marR="6350" marT="635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933477"/>
                  </a:ext>
                </a:extLst>
              </a:tr>
            </a:tbl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CCA68EA-5C2A-4298-A986-B6DA58853A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095216"/>
              </p:ext>
            </p:extLst>
          </p:nvPr>
        </p:nvGraphicFramePr>
        <p:xfrm>
          <a:off x="16161" y="545429"/>
          <a:ext cx="3506022" cy="2702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Prism 7" r:id="rId7" imgW="4081418" imgH="3146092" progId="Prism7.Document">
                  <p:embed/>
                </p:oleObj>
              </mc:Choice>
              <mc:Fallback>
                <p:oleObj name="Prism 7" r:id="rId7" imgW="4081418" imgH="3146092" progId="Prism7.Document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05F023C-2CD7-4763-A50E-B5B8DE6F9F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61" y="545429"/>
                        <a:ext cx="3506022" cy="27028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22DF96A4-B8D2-4A46-983D-B4848BE912C7}"/>
              </a:ext>
            </a:extLst>
          </p:cNvPr>
          <p:cNvSpPr txBox="1"/>
          <p:nvPr/>
        </p:nvSpPr>
        <p:spPr>
          <a:xfrm>
            <a:off x="248502" y="3073245"/>
            <a:ext cx="3149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Retrorsine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ranging from 6.25  to 600</a:t>
            </a:r>
            <a:r>
              <a:rPr lang="el-GR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M(delete 150 and 400 </a:t>
            </a:r>
            <a:r>
              <a:rPr lang="en-US" altLang="zh-CN" sz="16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μM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).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98E78E9-26A0-4117-BB8D-32AE2306BE3F}"/>
              </a:ext>
            </a:extLst>
          </p:cNvPr>
          <p:cNvSpPr txBox="1"/>
          <p:nvPr/>
        </p:nvSpPr>
        <p:spPr>
          <a:xfrm>
            <a:off x="3642270" y="5598855"/>
            <a:ext cx="8625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 that the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deleption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RTS and CLI are converted in a concentration-dependent manner;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conversion efficiency of RTS and CLI are lower than that of RID and LAS compared with pervious report; 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2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1D7963C-04A7-4D6C-AEF9-F924467228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359263"/>
              </p:ext>
            </p:extLst>
          </p:nvPr>
        </p:nvGraphicFramePr>
        <p:xfrm>
          <a:off x="180975" y="504825"/>
          <a:ext cx="498157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Prism 7" r:id="rId3" imgW="5246097" imgH="3091005" progId="Prism7.Document">
                  <p:embed/>
                </p:oleObj>
              </mc:Choice>
              <mc:Fallback>
                <p:oleObj name="Prism 7" r:id="rId3" imgW="5246097" imgH="3091005" progId="Prism7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975" y="504825"/>
                        <a:ext cx="4981575" cy="293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B3A0E93-41D6-421D-BB2B-D4D37CADA2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168140"/>
              </p:ext>
            </p:extLst>
          </p:nvPr>
        </p:nvGraphicFramePr>
        <p:xfrm>
          <a:off x="298450" y="3560763"/>
          <a:ext cx="4833938" cy="293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Prism 7" r:id="rId5" imgW="5084396" imgH="3091005" progId="Prism7.Document">
                  <p:embed/>
                </p:oleObj>
              </mc:Choice>
              <mc:Fallback>
                <p:oleObj name="Prism 7" r:id="rId5" imgW="5084396" imgH="3091005" progId="Prism7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8450" y="3560763"/>
                        <a:ext cx="4833938" cy="293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694DBAEA-7528-44E4-BB9B-4E75B8BE2547}"/>
              </a:ext>
            </a:extLst>
          </p:cNvPr>
          <p:cNvSpPr/>
          <p:nvPr/>
        </p:nvSpPr>
        <p:spPr>
          <a:xfrm>
            <a:off x="1" y="379503"/>
            <a:ext cx="5157348" cy="611943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32C9B5-DF14-41B3-93B5-2CAC7FE1F604}"/>
              </a:ext>
            </a:extLst>
          </p:cNvPr>
          <p:cNvSpPr txBox="1"/>
          <p:nvPr/>
        </p:nvSpPr>
        <p:spPr>
          <a:xfrm>
            <a:off x="0" y="10170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results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29D7E1-CA27-4425-863F-9FAF06E7C5D8}"/>
              </a:ext>
            </a:extLst>
          </p:cNvPr>
          <p:cNvSpPr txBox="1"/>
          <p:nvPr/>
        </p:nvSpPr>
        <p:spPr>
          <a:xfrm>
            <a:off x="6096000" y="4902200"/>
            <a:ext cx="50577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/>
              <a:t> More PAs </a:t>
            </a:r>
            <a:r>
              <a:rPr lang="en-US" altLang="zh-CN" sz="1600" dirty="0"/>
              <a:t>were found in GSH group than without GSH group, either in present results or in Becky’s results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1600" dirty="0"/>
              <a:t>We need to read other papers in order to find reason possibly                             </a:t>
            </a:r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851A87-F75B-4134-A901-A19F93BB17D4}"/>
              </a:ext>
            </a:extLst>
          </p:cNvPr>
          <p:cNvSpPr txBox="1"/>
          <p:nvPr/>
        </p:nvSpPr>
        <p:spPr>
          <a:xfrm>
            <a:off x="74970" y="6537523"/>
            <a:ext cx="39163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are mean ± SD(n=4)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8DF8C47-D3B6-4807-97B9-7202ACE2DA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7572" y="1819620"/>
            <a:ext cx="3988005" cy="260998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CB33206-9B72-4CE2-86A0-C4CB5BBB5D19}"/>
              </a:ext>
            </a:extLst>
          </p:cNvPr>
          <p:cNvSpPr txBox="1"/>
          <p:nvPr/>
        </p:nvSpPr>
        <p:spPr>
          <a:xfrm>
            <a:off x="6386421" y="135493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Becky’s results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813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10405</TotalTime>
  <Words>821</Words>
  <Application>Microsoft Office PowerPoint</Application>
  <PresentationFormat>宽屏</PresentationFormat>
  <Paragraphs>222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等线 Light</vt:lpstr>
      <vt:lpstr>宋体</vt:lpstr>
      <vt:lpstr>Arial</vt:lpstr>
      <vt:lpstr>Times New Roman</vt:lpstr>
      <vt:lpstr>Wingdings</vt:lpstr>
      <vt:lpstr>Office 主题​​</vt:lpstr>
      <vt:lpstr>Prism 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 dandan</dc:creator>
  <cp:lastModifiedBy>hu dandan</cp:lastModifiedBy>
  <cp:revision>33</cp:revision>
  <dcterms:created xsi:type="dcterms:W3CDTF">2021-12-19T14:55:59Z</dcterms:created>
  <dcterms:modified xsi:type="dcterms:W3CDTF">2022-01-17T02:36:26Z</dcterms:modified>
</cp:coreProperties>
</file>